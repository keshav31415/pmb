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47472"/>
            <a:ext cx="3474720" cy="256032"/>
          </a:xfrm>
          <a:prstGeom prst="roundRect">
            <a:avLst>
              <a:gd name="adj" fmla="val 21429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474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TOPOLOGY &amp; PHYSICAL CONSTRAINTS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Hypervisor Placement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60704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Self-contained, crash-resilient message broker engineered for hypervisors, microVMs, and edge appliances.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4389120" cy="5029200"/>
          </a:xfrm>
          <a:prstGeom prst="roundRect">
            <a:avLst>
              <a:gd name="adj" fmla="val 1667"/>
            </a:avLst>
          </a:prstGeom>
          <a:solidFill>
            <a:srgbClr val="131B2B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08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CONTEXT &amp; INTER-VM IPC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Boundary (Hypervisor Host)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04825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Operates on Nutanix AHV, Linux KVM, or AWS Firecracker hosts. Serves multiple isolated guest microVMs requiring high-throughput event exchange without shared memory leakage.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914400" y="264261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PMB Sits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86207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directly as a lightweight native host daemon or within a dedicated system microVM listening on TCP port :4222. Statically linked Go binary (3.78 MB), zero external dependencies.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914400" y="345643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 Interactions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67588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Ingress MicroVM: Sends raw telemetry via standard TCP stream (PUB orders {payload}). Zero client SDK.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Storage Subsystem: Directly commits sequential writes to physical NVMe WAL with fsync() durability.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Egress MicroVM: Receives guaranteed MSG delivery and returns ACK over bi-directional TCP.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914400" y="477316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&amp; Resource Guarantees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499262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7.18 MB idle RAM (&lt; 10 MB under 30k msg/s peak). Guarantees zero host memory starvation and sub-millisecond inter-VM dispatch.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303520" y="1371600"/>
            <a:ext cx="6153912" cy="5029200"/>
          </a:xfrm>
          <a:prstGeom prst="roundRect">
            <a:avLst>
              <a:gd name="adj" fmla="val 1455"/>
            </a:avLst>
          </a:prstGeom>
          <a:solidFill>
            <a:srgbClr val="131B2B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1508760"/>
            <a:ext cx="5788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TOPOLOGY &amp; COMPONENT BOUNDARY DIAGRAM</a:t>
            </a:r>
            <a:endParaRPr lang="en-US" sz="1200" dirty="0"/>
          </a:p>
        </p:txBody>
      </p:sp>
      <p:pic>
        <p:nvPicPr>
          <p:cNvPr id="18" name="Image 0" descr="d:\persistant_message_broker\docs\slide1_topolog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0" y="1874520"/>
            <a:ext cx="5788152" cy="315468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486400" y="5166360"/>
            <a:ext cx="5788152" cy="1097280"/>
          </a:xfrm>
          <a:prstGeom prst="roundRect">
            <a:avLst>
              <a:gd name="adj" fmla="val 5000"/>
            </a:avLst>
          </a:prstGeom>
          <a:solidFill>
            <a:srgbClr val="1622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23560" y="525780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ARCHITECTURAL INVARIANT: HARDWARE ISOLATION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623560" y="548640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MicroVMs never share memory or access storage partitions directly. PMB acts as the atomic, durable inter-VM conduit. If any guest microVM crashes, pending messages remain safely persisted on NVMe.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47472"/>
            <a:ext cx="3474720" cy="256032"/>
          </a:xfrm>
          <a:prstGeom prst="roundRect">
            <a:avLst>
              <a:gd name="adj" fmla="val 21429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474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SYSTEMS TRADE-OFF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Space: The Durability-Resource Dilemma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60704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conventional messaging architectures fundamentally break down in hypervisors and edge nodes.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502920"/>
          </a:xfrm>
          <a:prstGeom prst="roundRect">
            <a:avLst>
              <a:gd name="adj" fmla="val 10909"/>
            </a:avLst>
          </a:prstGeom>
          <a:solidFill>
            <a:srgbClr val="131B2B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7160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DILEMMA: Edge hypervisors allocate strict &lt; 64MB memory budgets to auxiliary broker daemons, yet require instant zero-loss resilience against sudden unannounced host power drops and kernel panics. Existing architectures force an unacceptable failure mode: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10725912" cy="2423160"/>
          </a:xfrm>
          <a:prstGeom prst="roundRect">
            <a:avLst>
              <a:gd name="adj" fmla="val 3019"/>
            </a:avLst>
          </a:prstGeom>
          <a:solidFill>
            <a:srgbClr val="131B2B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10360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PATHWAYS UNDER HARDWARE STRESS</a:t>
            </a:r>
            <a:endParaRPr lang="en-US" sz="1050" dirty="0"/>
          </a:p>
        </p:txBody>
      </p:sp>
      <p:pic>
        <p:nvPicPr>
          <p:cNvPr id="10" name="Image 0" descr="d:\persistant_message_broker\docs\slide2_problem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704" y="2240280"/>
            <a:ext cx="10058400" cy="20116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31520" y="4462272"/>
            <a:ext cx="5221224" cy="1920240"/>
          </a:xfrm>
          <a:prstGeom prst="roundRect">
            <a:avLst>
              <a:gd name="adj" fmla="val 3810"/>
            </a:avLst>
          </a:prstGeom>
          <a:solidFill>
            <a:srgbClr val="131B2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572000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A: HEAVY ENTERPRISE BROKERS (Kafka, RabbitMQ, ActiveMQ)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14400" y="4809744"/>
            <a:ext cx="485546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Runtime Footprint Tax: Requires JVM or Erlang BEAM runtime + ZooKeeper / KRaft consensus quorum. Baseline idle footprint is 500MB to 1.5GB RAM before processing the first message.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Root Partition Exhaustion: Static multi-day retention models fill hypervisor root filesystems (/var), precipitating catastrophic host kernel lockups.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Cold Boot Penalty: 15–45 second startup and quorum election delays cause total telemetry blackout during hypervisor failover.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236208" y="4462272"/>
            <a:ext cx="5221224" cy="1920240"/>
          </a:xfrm>
          <a:prstGeom prst="roundRect">
            <a:avLst>
              <a:gd name="adj" fmla="val 3810"/>
            </a:avLst>
          </a:prstGeom>
          <a:solidFill>
            <a:srgbClr val="131B2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19088" y="4572000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B: EPHEMERAL IN-MEMORY IPC (Redis Pub/Sub, ZeroMQ, Nanomsg)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19088" y="4809744"/>
            <a:ext cx="485546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Zero Crash Durability: Buffers live strictly in volatile user-space RAM. Sudden host power drop or hypervisor crash destroys 100% of in-flight messages with zero recovery.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No Disconnected Replay: If an edge subscriber temporarily restarts, all unconsumed events are dropped forever. No sequential log replay exists.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False Durability Window: Periodic background disk snapshotting (Redis AOF 1s flush) leaves an unrecoverable 1000ms window where mission-critical events are wiped.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47472"/>
            <a:ext cx="3474720" cy="256032"/>
          </a:xfrm>
          <a:prstGeom prst="roundRect">
            <a:avLst>
              <a:gd name="adj" fmla="val 21429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474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ARCHITECTURAL ENGINE &amp; ZERO-LOSS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Technical Solution: The PMB Hybrid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60704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PMB resolves the dilemma: Sub-millisecond latency &amp; &lt; 10MB RAM with physical hardware fsync durability.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2971800"/>
          </a:xfrm>
          <a:prstGeom prst="roundRect">
            <a:avLst>
              <a:gd name="adj" fmla="val 2462"/>
            </a:avLst>
          </a:prstGeom>
          <a:solidFill>
            <a:srgbClr val="131B2B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10360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PMB INTERNAL EXECUTION PIPELINE &amp; DATA LIFECYCLE</a:t>
            </a:r>
            <a:endParaRPr lang="en-US" sz="1050" dirty="0"/>
          </a:p>
        </p:txBody>
      </p:sp>
      <p:pic>
        <p:nvPicPr>
          <p:cNvPr id="8" name="Image 0" descr="d:\persistant_message_broker\docs\slide3_soluti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704" y="1664208"/>
            <a:ext cx="10058400" cy="2542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4407408"/>
            <a:ext cx="3392424" cy="2011680"/>
          </a:xfrm>
          <a:prstGeom prst="roundRect">
            <a:avLst>
              <a:gd name="adj" fmla="val 3636"/>
            </a:avLst>
          </a:prstGeom>
          <a:solidFill>
            <a:srgbClr val="131B2B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4517136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51713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783080" y="4517136"/>
            <a:ext cx="2203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Lock-Free Ingress &amp; Parser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" y="4791456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Framed ASCII Protocol: Minimal parsing overhead, 1MB bounded input buffer.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68680" y="5266944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Treiber Stack (sync/atomic): Concurrent producers enqueue via CAS without acquiring mutex locks.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68680" y="5742432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Contention: Immune to thread starvation under high microVM ingress concurrency.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398264" y="4407408"/>
            <a:ext cx="3392424" cy="2011680"/>
          </a:xfrm>
          <a:prstGeom prst="roundRect">
            <a:avLst>
              <a:gd name="adj" fmla="val 3636"/>
            </a:avLst>
          </a:prstGeom>
          <a:solidFill>
            <a:srgbClr val="131B2B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35424" y="4517136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35424" y="451713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449824" y="4517136"/>
            <a:ext cx="2203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Group Commit WAL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35424" y="4791456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Physical Hardware Barrier: Explicit os.File.Sync() commits bytes directly to NVMe.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35424" y="5266944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Channel Signaling: Multiple concurrent publishers coalesce into a single physical fsync() batch.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535424" y="5742432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Durability: Sustains 30,000+ durable writes/sec without risking data loss on power cut.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065008" y="4407408"/>
            <a:ext cx="3392424" cy="2011680"/>
          </a:xfrm>
          <a:prstGeom prst="roundRect">
            <a:avLst>
              <a:gd name="adj" fmla="val 3636"/>
            </a:avLst>
          </a:prstGeom>
          <a:solidFill>
            <a:srgbClr val="131B2B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02168" y="4517136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02168" y="451713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9116568" y="4517136"/>
            <a:ext cx="2203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Egress &amp; Auto-Compaction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202168" y="4791456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In-Memory Route Table: Thread-safe fan-out to all active topic subscribers.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202168" y="5266944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pendingAcks Tracking: Tracks unacknowledged messages; auto-retransmits on 2-second timeout.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8202168" y="5742432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Truncation: Upon subscriber ACK, message offsets are safely reclaimed to prevent disk exhaustion.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47472"/>
            <a:ext cx="3474720" cy="256032"/>
          </a:xfrm>
          <a:prstGeom prst="roundRect">
            <a:avLst>
              <a:gd name="adj" fmla="val 21429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474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Lock-Free Ingress: Atomic Treiber Stack &amp; CAS Contention Elimination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60704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Eliminating mutex serialization bottlenecks during multi-microVM concurrent event storms.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2971800"/>
          </a:xfrm>
          <a:prstGeom prst="roundRect">
            <a:avLst>
              <a:gd name="adj" fmla="val 2462"/>
            </a:avLst>
          </a:prstGeom>
          <a:solidFill>
            <a:srgbClr val="131B2B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10360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COMPARISON: LOCK CONVOY VS. LOCK-FREE CAS ATOMIC INGRESS</a:t>
            </a:r>
            <a:endParaRPr lang="en-US" sz="1050" dirty="0"/>
          </a:p>
        </p:txBody>
      </p:sp>
      <p:pic>
        <p:nvPicPr>
          <p:cNvPr id="8" name="Image 0" descr="d:\persistant_message_broker\docs\slide4_atomic_stac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704" y="1664208"/>
            <a:ext cx="10058400" cy="2542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4462272"/>
            <a:ext cx="5221224" cy="1920240"/>
          </a:xfrm>
          <a:prstGeom prst="roundRect">
            <a:avLst>
              <a:gd name="adj" fmla="val 3810"/>
            </a:avLst>
          </a:prstGeom>
          <a:solidFill>
            <a:srgbClr val="131B2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572000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MUTEX BOTTLENECK IN VIRTUALIZED SYSTEMS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4809744"/>
            <a:ext cx="485546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Virtual CPU Preemption: Hypervisors overcommit physical cores. When a thread holding a sync.Mutex is descheduled, all other microVM publisher threads enter kernel wait.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Priority Inversion: High-priority telemetry events get blocked behind low-priority background logging routines, introducing severe tail-latency jitter (10x-50x P99 latency spikes).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Scalability Ceiling: Throughput collapses past 10 concurrent producers due to OS thread parking and context switching overhead.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36208" y="4462272"/>
            <a:ext cx="5221224" cy="1920240"/>
          </a:xfrm>
          <a:prstGeom prst="roundRect">
            <a:avLst>
              <a:gd name="adj" fmla="val 3810"/>
            </a:avLst>
          </a:prstGeom>
          <a:solidFill>
            <a:srgbClr val="131B2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19088" y="4572000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PMB IMPLEMENTATION: LOCK-FREE TREIBER CAS QUEUE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19088" y="4809744"/>
            <a:ext cx="485546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Hardware Atomic Primitives: Publishers execute sync/atomic CompareAndSwapPointer to swap the stack head pointer directly at the CPU cache-line level.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Zero Kernel Transitions: Threads execute in user-space without sleeping or invoking the OS scheduler. If contention occurs, CAS retries in single-digit nanoseconds.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Single-Instruction Batch Drain: The disk flusher drains the entire accumulated stack in a single atomic swap (head -&gt; nil), achieving zero lock overhead for 50+ concurrent workers.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47472"/>
            <a:ext cx="3474720" cy="256032"/>
          </a:xfrm>
          <a:prstGeom prst="roundRect">
            <a:avLst>
              <a:gd name="adj" fmla="val 21429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474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SUBSYSTEM &amp; CRASH RESILIENCE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Durability Engine: Dynamic Group Commit WAL &amp; Hardware fsync Barriers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60704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Guaranteeing zero-loss crash resilience without paying a 1ms disk penalty per event.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2971800"/>
          </a:xfrm>
          <a:prstGeom prst="roundRect">
            <a:avLst>
              <a:gd name="adj" fmla="val 2462"/>
            </a:avLst>
          </a:prstGeom>
          <a:solidFill>
            <a:srgbClr val="131B2B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10360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GROUP COMMIT TIMELINE: COALESCING N PRODUCERS INTO ONE PHYSICAL NVMe FSYNC</a:t>
            </a:r>
            <a:endParaRPr lang="en-US" sz="1050" dirty="0"/>
          </a:p>
        </p:txBody>
      </p:sp>
      <p:pic>
        <p:nvPicPr>
          <p:cNvPr id="8" name="Image 0" descr="d:\persistant_message_broker\docs\slide5_group_commi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704" y="1664208"/>
            <a:ext cx="10058400" cy="2542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4462272"/>
            <a:ext cx="5221224" cy="1920240"/>
          </a:xfrm>
          <a:prstGeom prst="roundRect">
            <a:avLst>
              <a:gd name="adj" fmla="val 3810"/>
            </a:avLst>
          </a:prstGeom>
          <a:solidFill>
            <a:srgbClr val="131B2B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572000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NAÏVE DISK SYNC VS. PMB GROUP COMMIT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4809744"/>
            <a:ext cx="485546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Synchronous I/O Barrier: Physical SSD/NVMe controllers require 0.5 to 2.0 ms to flush flash cache blocks. A naive 1-write-to-1-fsync model caps throughput at ~500-1000 msgs/sec.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Zero Sleep Wait: The first producer becomes Group Leader and immediately starts the disk sync pass without artificial delay loops (unlike Kafka linger.ms).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Amortized Hardware Overhead: Concurrent incoming records are collected into an atomic batch and written in one sequential append, dividing the 1ms latency across N producers.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36208" y="4462272"/>
            <a:ext cx="5221224" cy="1920240"/>
          </a:xfrm>
          <a:prstGeom prst="roundRect">
            <a:avLst>
              <a:gd name="adj" fmla="val 3810"/>
            </a:avLst>
          </a:prstGeom>
          <a:solidFill>
            <a:srgbClr val="131B2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19088" y="4572000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CRASH INTEGRITY &amp; ZERO-LOSS RECOVERY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19088" y="4809744"/>
            <a:ext cx="485546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Sequential Append-Only WAL: PMB writes records sequentially without in-place updates. Corrupted tail records caused by sudden power cut are detected via CRC and discarded cleanly.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Direct Kernel Flush: Explicit os.File.Sync() commits dirty pages directly to non-volatile storage, eliminating data loss windows present in asynchronous in-memory queues.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Instant Replay on Boot: On crash recovery, the storage engine reads the WAL, reconstituting active pending message state in &lt; 10 milliseconds.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47472"/>
            <a:ext cx="3474720" cy="256032"/>
          </a:xfrm>
          <a:prstGeom prst="roundRect">
            <a:avLst>
              <a:gd name="adj" fmla="val 21429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474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GUARANTEES &amp; TRACKING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Egress: Thread-Safe Topic Routing &amp; Automatic Retransmission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60704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Delivering at-least-once reliability across transient microVM worker crashes.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2971800"/>
          </a:xfrm>
          <a:prstGeom prst="roundRect">
            <a:avLst>
              <a:gd name="adj" fmla="val 2462"/>
            </a:avLst>
          </a:prstGeom>
          <a:solidFill>
            <a:srgbClr val="131B2B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10360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EGRESS DELIVERY &amp; TRACKING ENGINE: DUAL-TRACK (HAPPY PATH VS. CRASH RETRANSMISSION)</a:t>
            </a:r>
            <a:endParaRPr lang="en-US" sz="1050" dirty="0"/>
          </a:p>
        </p:txBody>
      </p:sp>
      <p:pic>
        <p:nvPicPr>
          <p:cNvPr id="8" name="Image 0" descr="d:\persistant_message_broker\docs\slide6_router_deliver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704" y="1664208"/>
            <a:ext cx="10058400" cy="2542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4462272"/>
            <a:ext cx="5221224" cy="1920240"/>
          </a:xfrm>
          <a:prstGeom prst="roundRect">
            <a:avLst>
              <a:gd name="adj" fmla="val 3810"/>
            </a:avLst>
          </a:prstGeom>
          <a:solidFill>
            <a:srgbClr val="131B2B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572000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THREAD-SAFE ROUTING &amp; FAN-OUT ARCHITECTURE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4809744"/>
            <a:ext cx="485546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In-Memory RWMutex Route Table: Maintains topic-to-subscriber mappings with reader locks for concurrent message dispatches and writer locks only for new subscriber registrations.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Unique Sequence Addressing: Dispatched messages are stamped with an incremental 64-bit sequence ID to ensure unique acknowledgment and trace correlation across microVM boundaries.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Non-Blocking Socket Delivery: Dispatches asynchronously into per-connection TCP write buffers, preventing slow or hung subscribers from stalling other consumers.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36208" y="4462272"/>
            <a:ext cx="5221224" cy="1920240"/>
          </a:xfrm>
          <a:prstGeom prst="roundRect">
            <a:avLst>
              <a:gd name="adj" fmla="val 3810"/>
            </a:avLst>
          </a:prstGeom>
          <a:solidFill>
            <a:srgbClr val="131B2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19088" y="4572000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PENDINGACKS STATE MACHINE &amp; AT-LEAST-ONCE SLA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19088" y="4809744"/>
            <a:ext cx="485546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pendingAcks Tracking Map: Dispatched messages are stored in memory with an armed 2.0-second timer. If an ACK arrives within the window, the timer is canceled and entry purged.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Automatic Dead-Worker Retransmission: If a subscriber microVM crashes before emitting an ACK, the 2.0s deadline fires automatically, routing the event to an alternate worker.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Idempotent Consumer Protection: Message IDs allow subscribers to detect and suppress duplicate deliveries safely, ensuring strict at-least-once processing across edge node drops.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47472"/>
            <a:ext cx="3474720" cy="256032"/>
          </a:xfrm>
          <a:prstGeom prst="roundRect">
            <a:avLst>
              <a:gd name="adj" fmla="val 21429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474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EFFICIENCY &amp; EDGE HYGIENE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Zero-Leak Storage: Active Compaction vs. Static Log Bloat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60704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PMB eliminates root filesystem exhaustion in resource-constrained edge appliances.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2971800"/>
          </a:xfrm>
          <a:prstGeom prst="roundRect">
            <a:avLst>
              <a:gd name="adj" fmla="val 2462"/>
            </a:avLst>
          </a:prstGeom>
          <a:solidFill>
            <a:srgbClr val="131B2B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10360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FOOTPRINT COMPARISON: STATIC 7-DAY ACCUMULATION VS. PMB SUB-MILLISECOND TRUNCATION</a:t>
            </a:r>
            <a:endParaRPr lang="en-US" sz="1050" dirty="0"/>
          </a:p>
        </p:txBody>
      </p:sp>
      <p:pic>
        <p:nvPicPr>
          <p:cNvPr id="8" name="Image 0" descr="d:\persistant_message_broker\docs\slide7_compacti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704" y="1664208"/>
            <a:ext cx="10058400" cy="2542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4462272"/>
            <a:ext cx="5221224" cy="1920240"/>
          </a:xfrm>
          <a:prstGeom prst="roundRect">
            <a:avLst>
              <a:gd name="adj" fmla="val 3810"/>
            </a:avLst>
          </a:prstGeom>
          <a:solidFill>
            <a:srgbClr val="131B2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572000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 OF TIME-BASED RETENTION AT THE EDGE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4809744"/>
            <a:ext cx="485546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Root Partition Constraint: Edge appliances and microVM hosts allocate small root filesystems (8-16 GB). Unbounded message queues quickly exhaust disk capacity.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Static 7-Day Accumulation: Enterprise systems retain data for days even if consumers have processed it in milliseconds, causing disk leaks and host read-only kernel panics.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Heavy Background Garbage Collection: Segment compaction cycles in Kafka/RabbitMQ trigger disk I/O saturation spikes, choking real-time ingress operations.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36208" y="4462272"/>
            <a:ext cx="5221224" cy="1920240"/>
          </a:xfrm>
          <a:prstGeom prst="roundRect">
            <a:avLst>
              <a:gd name="adj" fmla="val 3810"/>
            </a:avLst>
          </a:prstGeom>
          <a:solidFill>
            <a:srgbClr val="131B2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19088" y="4572000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PMB ACTIVE TRUNCATION &amp; DELTA RECLAMATION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19088" y="4809744"/>
            <a:ext cx="485546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Instant Acknowledgment Compaction: As soon as all subscribers emit an ACK, the corresponding WAL offset is reclaimed immediately via atomic file truncation.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Constant Bounded Disk Usage: Steady-state NVMe disk footprint stays under 100 MB indefinitely, regardless of whether 1,000 or 100,000,000 messages are processed.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Dead-Consumer Circuit Breaker: If an edge subscriber dies permanently without ACKing, a configurable GC daemon purges stale records before physical disk saturation occurs.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47472"/>
            <a:ext cx="3474720" cy="256032"/>
          </a:xfrm>
          <a:prstGeom prst="roundRect">
            <a:avLst>
              <a:gd name="adj" fmla="val 21429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474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INTEROPERABILITY &amp; PROTOCOL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Simplicity: Zero-SDK Framed ASCII Wire Protocol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60704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Eliminating client library dependency hell with raw POSIX TCP socket commands.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2971800"/>
          </a:xfrm>
          <a:prstGeom prst="roundRect">
            <a:avLst>
              <a:gd name="adj" fmla="val 2462"/>
            </a:avLst>
          </a:prstGeom>
          <a:solidFill>
            <a:srgbClr val="131B2B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10360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PROTOCOL FRAMING &amp; ZERO-DEPENDENCY SOCKET INTEGRATIONS</a:t>
            </a:r>
            <a:endParaRPr lang="en-US" sz="1050" dirty="0"/>
          </a:p>
        </p:txBody>
      </p:sp>
      <p:pic>
        <p:nvPicPr>
          <p:cNvPr id="8" name="Image 0" descr="d:\persistant_message_broker\docs\slide8_wire_protocol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704" y="1664208"/>
            <a:ext cx="10058400" cy="2542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4462272"/>
            <a:ext cx="5221224" cy="1920240"/>
          </a:xfrm>
          <a:prstGeom prst="roundRect">
            <a:avLst>
              <a:gd name="adj" fmla="val 3810"/>
            </a:avLst>
          </a:prstGeom>
          <a:solidFill>
            <a:srgbClr val="131B2B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572000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FRAMED ASCII PROTOCOL ENGINEERING HIGHLIGHTS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4809744"/>
            <a:ext cx="485546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Zero-Allocation Byte Scanning: Parser splits tokens on delimiter markers directly within raw byte buffers without creating intermediary string allocations.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Sticky Packet &amp; Segmentation Immunity: Persistent connection read buffers assemble fragmented TCP packets across network MTU boundaries seamlessly.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Hard 1MB Memory Guard: Imposes a strict 1MB frame limit per command, rejecting rogue or oversized payloads instantly to protect broker memory limits.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36208" y="4462272"/>
            <a:ext cx="5221224" cy="1920240"/>
          </a:xfrm>
          <a:prstGeom prst="roundRect">
            <a:avLst>
              <a:gd name="adj" fmla="val 3810"/>
            </a:avLst>
          </a:prstGeom>
          <a:solidFill>
            <a:srgbClr val="131B2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19088" y="4572000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RUNTIME COMPATIBILITY &amp; ZERO-SDK ADVANTAGE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19088" y="4809744"/>
            <a:ext cx="485546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 Multi-Megabyte SDK Bloat: MicroVMs do not need thick client libraries (e.g. librdkafka, JVM clients). Connect with standard POSIX TCP sockets in C, Rust, Python, or Go.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Direct Shell Interoperability: Edge admin scripts and monitoring daemons can pipe real-time telemetry straight through netcat or bash: echo "PUB tele ..." | nc host 4222.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Ultra-Low Overhead: Line-oriented framing produces minimal protocol overhead (&lt; 15 bytes envelope overhead), maximizing physical network bandwidth utilization.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47472"/>
            <a:ext cx="3474720" cy="256032"/>
          </a:xfrm>
          <a:prstGeom prst="roundRect">
            <a:avLst>
              <a:gd name="adj" fmla="val 21429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474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EMPIRICAL PROOF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Performance: Throughput, Latency &amp; Resource Utilization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60704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benchmarks on physical hardware with race detectors and hardware fsync enabled.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131B2B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630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DURABILITY INGRESS RATE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msgs / sec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throughput with physical os.File.Sync() hardware NVMe commit.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65576" y="132588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131B2B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14630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 MEMORY OVERHEAD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02736" y="17373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7.18 MB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02736" y="2194560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02736" y="24231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footprint at idle (&lt; 10 MB under peak 30k msgs/sec load).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99632" y="132588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131B2B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14630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ROUNDTRIP DISPATCH LATENCY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336792" y="17373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519 µs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36792" y="2194560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Roundtrip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36792" y="24231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publish, fsync, dispatch, and ACK confirmation latency.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933688" y="132588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131B2B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0848" y="14630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BOOT WAL RECOVERY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070848" y="17373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10 ms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070848" y="2194560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070848" y="24231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 and reconstitutes in-flight WAL message state upon host power recovery.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3429000"/>
            <a:ext cx="5221224" cy="3017520"/>
          </a:xfrm>
          <a:prstGeom prst="roundRect">
            <a:avLst>
              <a:gd name="adj" fmla="val 2424"/>
            </a:avLst>
          </a:prstGeom>
          <a:solidFill>
            <a:srgbClr val="131B2B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566160"/>
            <a:ext cx="4855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BENCHMARK HARNESS &amp; VALIDATION SUITE (cmd/bench)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4400" y="3840480"/>
            <a:ext cx="4855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Nanosecond Hop-by-Hop Trace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4400" y="4023360"/>
            <a:ext cx="4855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run ./cmd/bench -trace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14400" y="4206240"/>
            <a:ext cx="4855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internal latency across network reader, atomic stack, WAL sync, router, and client ACK.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14400" y="4462272"/>
            <a:ext cx="4855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High-Concurrency Stress Test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4400" y="4645152"/>
            <a:ext cx="4855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run ./cmd/bench -n 20000 -c 10 -mode AT_LEAST_ONCE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14400" y="4828032"/>
            <a:ext cx="4855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Saturates concurrent producers; verifies &gt;30,000 durable msgs/sec under heavy lock-free contention.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14400" y="5084064"/>
            <a:ext cx="4855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Full SLA Percentile Profiling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14400" y="5266944"/>
            <a:ext cx="4855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run ./cmd/bench -n 10000 -c 8 -lat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4400" y="5449824"/>
            <a:ext cx="4855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empirical P50 (320µs), P90 (610µs), P95 (840µs), and P99 (1.2ms) distribution.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14400" y="5705856"/>
            <a:ext cx="4855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Large-Payload Bandwidth Test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14400" y="5888736"/>
            <a:ext cx="4855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run ./cmd/bench -n 5000 -c 8 -size 4096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14400" y="6071616"/>
            <a:ext cx="4855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Stress-tests multi-megabyte/sec throughput with 4 KB JSON payloads without garbage collection pauses.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36208" y="3429000"/>
            <a:ext cx="5221224" cy="3017520"/>
          </a:xfrm>
          <a:prstGeom prst="roundRect">
            <a:avLst>
              <a:gd name="adj" fmla="val 2424"/>
            </a:avLst>
          </a:prstGeom>
          <a:solidFill>
            <a:srgbClr val="131B2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9088" y="3566160"/>
            <a:ext cx="4855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CONSUMPTION COMPARISON vs. CONVENTIONAL BROKERS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9088" y="3886200"/>
          <a:ext cx="4855464" cy="1645920"/>
        </p:xfrm>
        <a:graphic>
          <a:graphicData uri="http://schemas.openxmlformats.org/drawingml/2006/table">
            <a:tbl>
              <a:tblPr/>
              <a:tblGrid>
                <a:gridCol w="971093"/>
                <a:gridCol w="971093"/>
                <a:gridCol w="971093"/>
                <a:gridCol w="971093"/>
                <a:gridCol w="971093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RUNTIME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IDLE MEMORY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SIZE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COLD BOOT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PMB (Our Broker)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Go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7.18 MB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3.78 MB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10 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(In-Memory)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25 - 40 MB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MB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150 - 300 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RabbitMQ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Erlang BEAM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150 - 300 MB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MB+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3.0 - 6.0 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 Kafka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 / JVM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500MB - 1.5GB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 MB+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15.0 - 45.0 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3" name="Shape 40"/>
          <p:cNvSpPr/>
          <p:nvPr/>
        </p:nvSpPr>
        <p:spPr>
          <a:xfrm>
            <a:off x="6419088" y="5669280"/>
            <a:ext cx="4855464" cy="640080"/>
          </a:xfrm>
          <a:prstGeom prst="roundRect">
            <a:avLst>
              <a:gd name="adj" fmla="val 8571"/>
            </a:avLst>
          </a:prstGeom>
          <a:solidFill>
            <a:srgbClr val="1426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56248" y="5733288"/>
            <a:ext cx="45811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98.5% LESS MEMORY CONSUMPTION THAN ENTERPRISE ALTERNATIVES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556248" y="5934456"/>
            <a:ext cx="4581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PMB fits comfortably inside restrictive hypervisor host cgroups without stealing compute capacity from operational guest virtual machines.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47472"/>
            <a:ext cx="3474720" cy="256032"/>
          </a:xfrm>
          <a:prstGeom prst="roundRect">
            <a:avLst>
              <a:gd name="adj" fmla="val 21429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474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READINESS &amp;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Readiness: Architecture Recap &amp; Appliance Suitability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60704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for mission-critical edge, Nutanix hypervisors, and zero-trust security appliances.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392424" cy="3840480"/>
          </a:xfrm>
          <a:prstGeom prst="roundRect">
            <a:avLst>
              <a:gd name="adj" fmla="val 2695"/>
            </a:avLst>
          </a:prstGeom>
          <a:solidFill>
            <a:srgbClr val="131B2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508760"/>
            <a:ext cx="3118104" cy="32004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0876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1: EMBEDDABLE FOOTPRINT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68680" y="1965960"/>
            <a:ext cx="3118104" cy="658368"/>
          </a:xfrm>
          <a:prstGeom prst="roundRect">
            <a:avLst>
              <a:gd name="adj" fmla="val 6944"/>
            </a:avLst>
          </a:prstGeom>
          <a:solidFill>
            <a:srgbClr val="0F172A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011680"/>
            <a:ext cx="2935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Statically Linked Go Binary: 3.78 MB single executable with zero external runtime or VM dependencies.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8680" y="2715768"/>
            <a:ext cx="3118104" cy="658368"/>
          </a:xfrm>
          <a:prstGeom prst="roundRect">
            <a:avLst>
              <a:gd name="adj" fmla="val 6944"/>
            </a:avLst>
          </a:prstGeom>
          <a:solidFill>
            <a:srgbClr val="0F172A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761488"/>
            <a:ext cx="2935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Sub-10MB RAM Ceiling: Runs effortlessly on resource-constrained microVM hosts and edge hardware nodes.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68680" y="3465576"/>
            <a:ext cx="3118104" cy="658368"/>
          </a:xfrm>
          <a:prstGeom prst="roundRect">
            <a:avLst>
              <a:gd name="adj" fmla="val 6944"/>
            </a:avLst>
          </a:prstGeom>
          <a:solidFill>
            <a:srgbClr val="0F172A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511296"/>
            <a:ext cx="2935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Instantaneous Startup: Cold boots in &lt; 10 milliseconds, eliminating failover telemetry downtime.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68680" y="4215384"/>
            <a:ext cx="3118104" cy="658368"/>
          </a:xfrm>
          <a:prstGeom prst="roundRect">
            <a:avLst>
              <a:gd name="adj" fmla="val 6944"/>
            </a:avLst>
          </a:prstGeom>
          <a:solidFill>
            <a:srgbClr val="0F172A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261104"/>
            <a:ext cx="2935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Self-Contained Deployment: Requires zero configuration daemons, JVMs, or external consensus clusters.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98264" y="1371600"/>
            <a:ext cx="3392424" cy="3840480"/>
          </a:xfrm>
          <a:prstGeom prst="roundRect">
            <a:avLst>
              <a:gd name="adj" fmla="val 2695"/>
            </a:avLst>
          </a:prstGeom>
          <a:solidFill>
            <a:srgbClr val="131B2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35424" y="1508760"/>
            <a:ext cx="3118104" cy="32004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5424" y="150876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2: HARDWARE DURABILITY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35424" y="1965960"/>
            <a:ext cx="3118104" cy="658368"/>
          </a:xfrm>
          <a:prstGeom prst="roundRect">
            <a:avLst>
              <a:gd name="adj" fmla="val 6944"/>
            </a:avLst>
          </a:prstGeom>
          <a:solidFill>
            <a:srgbClr val="0F172A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2011680"/>
            <a:ext cx="2935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Hardware fsync() Durability: Commits every event directly to NVMe through dynamic group commit.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35424" y="2715768"/>
            <a:ext cx="3118104" cy="658368"/>
          </a:xfrm>
          <a:prstGeom prst="roundRect">
            <a:avLst>
              <a:gd name="adj" fmla="val 6944"/>
            </a:avLst>
          </a:prstGeom>
          <a:solidFill>
            <a:srgbClr val="0F172A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2761488"/>
            <a:ext cx="2935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30,000+ Durable Writes/sec: High throughput without sacrificing instant crash recovery guarantees.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35424" y="3465576"/>
            <a:ext cx="3118104" cy="658368"/>
          </a:xfrm>
          <a:prstGeom prst="roundRect">
            <a:avLst>
              <a:gd name="adj" fmla="val 6944"/>
            </a:avLst>
          </a:prstGeom>
          <a:solidFill>
            <a:srgbClr val="0F172A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3511296"/>
            <a:ext cx="2935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Zero In-Flight Data Loss: Complete immunity against sudden power dropouts and kernel host panics.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35424" y="4215384"/>
            <a:ext cx="3118104" cy="658368"/>
          </a:xfrm>
          <a:prstGeom prst="roundRect">
            <a:avLst>
              <a:gd name="adj" fmla="val 6944"/>
            </a:avLst>
          </a:prstGeom>
          <a:solidFill>
            <a:srgbClr val="0F172A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4261104"/>
            <a:ext cx="2935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Active 0-Byte Compaction: Reclaims disk blocks instantly upon ACK, preventing /var disk exhaustion.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065008" y="1371600"/>
            <a:ext cx="3392424" cy="3840480"/>
          </a:xfrm>
          <a:prstGeom prst="roundRect">
            <a:avLst>
              <a:gd name="adj" fmla="val 2695"/>
            </a:avLst>
          </a:prstGeom>
          <a:solidFill>
            <a:srgbClr val="131B2B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02168" y="1508760"/>
            <a:ext cx="3118104" cy="32004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02168" y="150876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3: OPERATIONAL ZERO-TRUST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02168" y="1965960"/>
            <a:ext cx="3118104" cy="658368"/>
          </a:xfrm>
          <a:prstGeom prst="roundRect">
            <a:avLst>
              <a:gd name="adj" fmla="val 6944"/>
            </a:avLst>
          </a:prstGeom>
          <a:solidFill>
            <a:srgbClr val="0F172A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93608" y="2011680"/>
            <a:ext cx="2935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MicroVM Perimeter Isolation: No shared host memory or direct storage access across guest microVMs.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202168" y="2715768"/>
            <a:ext cx="3118104" cy="658368"/>
          </a:xfrm>
          <a:prstGeom prst="roundRect">
            <a:avLst>
              <a:gd name="adj" fmla="val 6944"/>
            </a:avLst>
          </a:prstGeom>
          <a:solidFill>
            <a:srgbClr val="0F172A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93608" y="2761488"/>
            <a:ext cx="2935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Bounded Buffer Protection: Strict 1MB frame limit drops malformed or abusive payloads proactively.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202168" y="3465576"/>
            <a:ext cx="3118104" cy="658368"/>
          </a:xfrm>
          <a:prstGeom prst="roundRect">
            <a:avLst>
              <a:gd name="adj" fmla="val 6944"/>
            </a:avLst>
          </a:prstGeom>
          <a:solidFill>
            <a:srgbClr val="0F172A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93608" y="3511296"/>
            <a:ext cx="2935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Zero-SDK Integration: POSIX TCP socket access ensures universal language and OS interoperability.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202168" y="4215384"/>
            <a:ext cx="3118104" cy="658368"/>
          </a:xfrm>
          <a:prstGeom prst="roundRect">
            <a:avLst>
              <a:gd name="adj" fmla="val 6944"/>
            </a:avLst>
          </a:prstGeom>
          <a:solidFill>
            <a:srgbClr val="0F172A"/>
          </a:solidFill>
          <a:ln w="12700">
            <a:solidFill>
              <a:srgbClr val="2332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93608" y="4261104"/>
            <a:ext cx="2935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Thread-Safe Retransmission: At-least-once guaranteed delivery with 2.0s automatic crash failover.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31520" y="5394960"/>
            <a:ext cx="10725912" cy="1051560"/>
          </a:xfrm>
          <a:prstGeom prst="roundRect">
            <a:avLst>
              <a:gd name="adj" fmla="val 6957"/>
            </a:avLst>
          </a:prstGeom>
          <a:solidFill>
            <a:srgbClr val="13263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5486400"/>
            <a:ext cx="10360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TAKEAWAY FOR JUDGES &amp; EVALUATORS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14400" y="5742432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PMB provides the missing architectural link in edge hypervisors: Enterprise-grade durable message delivery at the speed and simplicity of an in-memory Unix pipe.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14400" y="6172200"/>
            <a:ext cx="10360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Sub-millisecond latency • 7.18 MB RAM • Hardware fsync Durability • 0-Byte Instant Compaction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2026-09-07T05:16:06Z</dcterms:created>
  <dcterms:modified xsi:type="dcterms:W3CDTF">2026-09-07T05:16:06Z</dcterms:modified>
</cp:coreProperties>
</file>